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3" name="Shape 1"/>
          <p:cNvSpPr/>
          <p:nvPr/>
        </p:nvSpPr>
        <p:spPr>
          <a:xfrm>
            <a:off x="5175504" y="777240"/>
            <a:ext cx="1828800" cy="1828800"/>
          </a:xfrm>
          <a:prstGeom prst="ellipse">
            <a:avLst/>
          </a:prstGeom>
          <a:solidFill>
            <a:srgbClr val="1E3A8A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960120"/>
            <a:ext cx="1463040" cy="146304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4" y="1311250"/>
            <a:ext cx="760781" cy="760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88920"/>
            <a:ext cx="12188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LEASH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3584448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 for AI-Powered Transactions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66360" y="4224528"/>
            <a:ext cx="1828800" cy="0"/>
          </a:xfrm>
          <a:prstGeom prst="line">
            <a:avLst/>
          </a:prstGeom>
          <a:noFill/>
          <a:ln w="12700">
            <a:solidFill>
              <a:srgbClr val="2532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75104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now shop and pay on your behalf — Agent Leash makes sure they never act beyond what you authorized.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17720" y="5257800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4910328" y="51755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525780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144768" y="51755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086600" y="525780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7379208" y="51755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Final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AI Purchasing Is a New Attack Surface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increasingly able to buy things and make financial decisions for their users. Natural-language instructions are easy to misread, extend, or exploit — and once an agent can act, small misunderstandings become real financial exposure.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4709160" cy="1417320"/>
          </a:xfrm>
          <a:prstGeom prst="roundRect">
            <a:avLst>
              <a:gd name="adj" fmla="val 7742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16052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policy layer, "authorize my AI agent" quietly becomes "give it a blank check."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23560" y="3977640"/>
            <a:ext cx="5989320" cy="1417320"/>
          </a:xfrm>
          <a:prstGeom prst="roundRect">
            <a:avLst>
              <a:gd name="adj" fmla="val 7742"/>
            </a:avLst>
          </a:prstGeom>
          <a:solidFill>
            <a:srgbClr val="18233A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16168" y="4233672"/>
            <a:ext cx="640080" cy="640080"/>
          </a:xfrm>
          <a:prstGeom prst="ellipse">
            <a:avLst/>
          </a:prstGeom>
          <a:solidFill>
            <a:srgbClr val="121C3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787" y="4387291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20840" y="397764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 scales exactly as fast as the AI agent does — unless something deterministic stands between intent and execution.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23560" y="1481328"/>
            <a:ext cx="2857500" cy="1078992"/>
          </a:xfrm>
          <a:prstGeom prst="roundRect">
            <a:avLst>
              <a:gd name="adj" fmla="val 8475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24728" y="1709928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58" y="1859158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1609344"/>
            <a:ext cx="17602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 Instructions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1911096"/>
            <a:ext cx="17602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misunderstands intent and buys the wrong thing.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755380" y="1481328"/>
            <a:ext cx="2857500" cy="1078992"/>
          </a:xfrm>
          <a:prstGeom prst="roundRect">
            <a:avLst>
              <a:gd name="adj" fmla="val 8475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956548" y="1709928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778" y="1859158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15500" y="1609344"/>
            <a:ext cx="17602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Add-ons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715500" y="1911096"/>
            <a:ext cx="17602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Warranties, accessories or upsells slipped into the order.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623560" y="2816352"/>
            <a:ext cx="2857500" cy="1078992"/>
          </a:xfrm>
          <a:prstGeom prst="roundRect">
            <a:avLst>
              <a:gd name="adj" fmla="val 8475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824728" y="304495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958" y="3194182"/>
            <a:ext cx="323332" cy="3233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83680" y="2944368"/>
            <a:ext cx="17602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Subscriptions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583680" y="3246120"/>
            <a:ext cx="17602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purchase turns into a recurring charge.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755380" y="2816352"/>
            <a:ext cx="2857500" cy="1078992"/>
          </a:xfrm>
          <a:prstGeom prst="roundRect">
            <a:avLst>
              <a:gd name="adj" fmla="val 8475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956548" y="304495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78" y="3194182"/>
            <a:ext cx="323332" cy="3233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15500" y="2944368"/>
            <a:ext cx="17602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Transactions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715500" y="3246120"/>
            <a:ext cx="17602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small charges combine to dodge a spending limit.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Deterministic Boundary Between Intent and Money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 sits between the AI agent and transaction execution. It converts a user’s natural-language authorization into structured constraints, checks every AI-proposed transaction against them, and enforces the outcome — deterministically, every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97180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965" y="3147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2606040"/>
            <a:ext cx="3154680" cy="1737360"/>
          </a:xfrm>
          <a:prstGeom prst="roundRect">
            <a:avLst>
              <a:gd name="adj" fmla="val 7368"/>
            </a:avLst>
          </a:prstGeom>
          <a:solidFill>
            <a:srgbClr val="18233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46420" y="2770632"/>
            <a:ext cx="914400" cy="914400"/>
          </a:xfrm>
          <a:prstGeom prst="ellipse">
            <a:avLst/>
          </a:prstGeom>
          <a:solidFill>
            <a:srgbClr val="0A11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99008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75818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40507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83880" y="27889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18320" y="297180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885" y="31473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Execution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078224" y="3392424"/>
            <a:ext cx="384048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9" name="Shape 14"/>
          <p:cNvSpPr/>
          <p:nvPr/>
        </p:nvSpPr>
        <p:spPr>
          <a:xfrm>
            <a:off x="7735824" y="3392424"/>
            <a:ext cx="384048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0" name="Text 15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authorization  →  structured constraints  →  evaluate proposal  →  enforce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1975104" y="52578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/>
        </p:spPr>
      </p:sp>
      <p:sp>
        <p:nvSpPr>
          <p:cNvPr id="22" name="Text 17"/>
          <p:cNvSpPr/>
          <p:nvPr/>
        </p:nvSpPr>
        <p:spPr>
          <a:xfrm>
            <a:off x="1975104" y="5257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probabilistic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992624" y="52578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/>
        </p:spPr>
      </p:sp>
      <p:sp>
        <p:nvSpPr>
          <p:cNvPr id="24" name="Text 19"/>
          <p:cNvSpPr/>
          <p:nvPr/>
        </p:nvSpPr>
        <p:spPr>
          <a:xfrm>
            <a:off x="4992624" y="5257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010144" y="52578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/>
        </p:spPr>
      </p:sp>
      <p:sp>
        <p:nvSpPr>
          <p:cNvPr id="26" name="Text 21"/>
          <p:cNvSpPr/>
          <p:nvPr/>
        </p:nvSpPr>
        <p:spPr>
          <a:xfrm>
            <a:off x="8010144" y="5257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before money moves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436" y="2075688"/>
            <a:ext cx="658368" cy="658368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444" y="223369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072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18104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22601" y="2660904"/>
            <a:ext cx="292608" cy="164592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2823210" y="18745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7006" y="2075688"/>
            <a:ext cx="658368" cy="658368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014" y="223369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4650" y="28072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Intent Parser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2938" y="3118104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97171" y="2660904"/>
            <a:ext cx="292608" cy="164592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5097780" y="18745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51576" y="2075688"/>
            <a:ext cx="658368" cy="658368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584" y="2233696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9220" y="28072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Authorization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7508" y="3118104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amount, category,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merchant, rules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071741" y="2660904"/>
            <a:ext cx="292608" cy="164592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2" name="Shape 17"/>
          <p:cNvSpPr/>
          <p:nvPr/>
        </p:nvSpPr>
        <p:spPr>
          <a:xfrm>
            <a:off x="7372350" y="18745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26146" y="2075688"/>
            <a:ext cx="658368" cy="658368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154" y="2233696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3790" y="28072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82078" y="3118104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346311" y="2660904"/>
            <a:ext cx="292608" cy="164592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8" name="Shape 22"/>
          <p:cNvSpPr/>
          <p:nvPr/>
        </p:nvSpPr>
        <p:spPr>
          <a:xfrm>
            <a:off x="9646920" y="18745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00716" y="2075688"/>
            <a:ext cx="658368" cy="658368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724" y="2233696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8360" y="28072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6648" y="3118104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against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constraint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4069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8233A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2153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OUTPUT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61772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44752" y="45720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1444752" y="4892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authorization</a:t>
            </a:r>
            <a:endParaRPr lang="en-US" sz="10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4617720"/>
            <a:ext cx="502920" cy="5029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828032" y="45720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4828032" y="4892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human confirmation</a:t>
            </a:r>
            <a:endParaRPr lang="en-US" sz="105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4617720"/>
            <a:ext cx="502920" cy="5029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211312" y="45720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8211312" y="4892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policy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Rules, Checked Every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3337" y="175564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789" y="1896100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Amount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292608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per transaction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71850" y="155448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76547" y="175564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999" y="1896100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3290" y="246888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Categories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81578" y="292608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pre-approved categories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5060" y="155448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99757" y="175564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209" y="1896100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6500" y="246888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Allow/Block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4788" y="292608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merchants only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18270" y="155448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22967" y="175564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419" y="1896100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9710" y="246888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Matching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27998" y="292608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/ size must match intent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53337" y="395020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789" y="4090660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66344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Restriction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58368" y="512064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charges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71850" y="374904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76547" y="395020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6999" y="4090660"/>
            <a:ext cx="304312" cy="304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63290" y="466344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Restriction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481578" y="512064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unauthorized extras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95060" y="374904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199757" y="395020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209" y="4090660"/>
            <a:ext cx="304312" cy="3043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86500" y="466344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Session Limits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04788" y="512064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spend per day / session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18270" y="3749040"/>
            <a:ext cx="2594610" cy="1965960"/>
          </a:xfrm>
          <a:prstGeom prst="roundRect">
            <a:avLst>
              <a:gd name="adj" fmla="val 4651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10022967" y="395020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3419" y="4090660"/>
            <a:ext cx="304312" cy="30431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09710" y="4663440"/>
            <a:ext cx="24117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Detection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127998" y="5120640"/>
            <a:ext cx="2375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transactions split to evade limits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Transaction Gets One of Three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" y="155448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121C3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96796" y="2011680"/>
            <a:ext cx="1005840" cy="100584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198" y="225308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" y="3246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842516" y="3840480"/>
            <a:ext cx="914400" cy="0"/>
          </a:xfrm>
          <a:prstGeom prst="line">
            <a:avLst/>
          </a:prstGeom>
          <a:noFill/>
          <a:ln w="12700">
            <a:solidFill>
              <a:srgbClr val="2532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fully matches the user’s authorization. Executes automatically.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155448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121C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91556" y="2011680"/>
            <a:ext cx="1005840" cy="100584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25308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34256" y="3246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5637276" y="3840480"/>
            <a:ext cx="914400" cy="0"/>
          </a:xfrm>
          <a:prstGeom prst="line">
            <a:avLst/>
          </a:prstGeom>
          <a:noFill/>
          <a:ln w="12700">
            <a:solidFill>
              <a:srgbClr val="25325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54296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borderline case. Held for human review before anything happens.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29016" y="1554480"/>
            <a:ext cx="3520440" cy="4297680"/>
          </a:xfrm>
          <a:prstGeom prst="roundRect">
            <a:avLst>
              <a:gd name="adj" fmla="val 3636"/>
            </a:avLst>
          </a:prstGeom>
          <a:solidFill>
            <a:srgbClr val="121C3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86316" y="2011680"/>
            <a:ext cx="1005840" cy="100584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718" y="2253082"/>
            <a:ext cx="523037" cy="5230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29016" y="3246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9432036" y="3840480"/>
            <a:ext cx="914400" cy="0"/>
          </a:xfrm>
          <a:prstGeom prst="line">
            <a:avLst/>
          </a:prstGeom>
          <a:noFill/>
          <a:ln w="12700">
            <a:solidFill>
              <a:srgbClr val="25325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49056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one or more policy rules. Stopped before execution — no payment.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Scenarios, Five Verdicts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823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4720" y="16002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BEHAVIOR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1284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SAFE_PURCHASE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purchase, within all constraints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784080" y="238658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0" y="23865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UNAUTHORIZED_ADDON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072384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adds an unauthorized warranty / accessory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84080" y="32461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0" y="32461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3192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UNAUTHORIZED_SUBSCRIPTION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931920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adds a recurring subscription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784080" y="410565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41056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9145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91456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OVER_LIMIT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791456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a purchase above the user’s maximum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84080" y="496519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496519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650992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AGGREGATE_SPLIT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5650992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transactions combine to exceed daily/session limits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784080" y="582472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58247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DEMO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Authorization, Two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8233A"/>
          </a:solidFill>
          <a:ln w="12700">
            <a:solidFill>
              <a:srgbClr val="25325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authorization:  “Buy black running shoes, size 9, under ₹3000. No extras.”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21C3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146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Proposal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898648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Running Shoes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440430" y="2898648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₹2,799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209544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440430" y="3209544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3520440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440430" y="3520440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3831336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440430" y="3831336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4169664"/>
            <a:ext cx="4709160" cy="0"/>
          </a:xfrm>
          <a:prstGeom prst="line">
            <a:avLst/>
          </a:prstGeom>
          <a:noFill/>
          <a:ln w="12700">
            <a:solidFill>
              <a:srgbClr val="2532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306824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3068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06040" y="4306824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10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" y="487375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violated rules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55080" y="233172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21C3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25146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Add-on Proposal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629400" y="2898648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246870" y="2898648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₹2,799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629400" y="3209544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Warranty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246870" y="3209544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629400" y="3520440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246870" y="3520440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₹3,298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629400" y="3831336"/>
            <a:ext cx="2891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Maximum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246870" y="3831336"/>
            <a:ext cx="20916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629400" y="4169664"/>
            <a:ext cx="4709160" cy="0"/>
          </a:xfrm>
          <a:prstGeom prst="line">
            <a:avLst/>
          </a:prstGeom>
          <a:noFill/>
          <a:ln w="12700">
            <a:solidFill>
              <a:srgbClr val="25325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29400" y="4306824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/>
        </p:spPr>
      </p:sp>
      <p:sp>
        <p:nvSpPr>
          <p:cNvPr id="34" name="Text 31"/>
          <p:cNvSpPr/>
          <p:nvPr/>
        </p:nvSpPr>
        <p:spPr>
          <a:xfrm>
            <a:off x="6629400" y="43068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412480" y="4306824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90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629400" y="487375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20840" y="514807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Maximum amount exceeded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720840" y="5385816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Unauthorized category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720840" y="5623560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Unauthorized add-on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157984"/>
            <a:ext cx="731520" cy="73152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025" y="2333549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992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3101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flags a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for review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54096" y="2752344"/>
            <a:ext cx="292608" cy="164592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192024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4820" y="2157984"/>
            <a:ext cx="731520" cy="73152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385" y="2333549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9992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33101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inspects the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transaction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34456" y="2752344"/>
            <a:ext cx="292608" cy="164592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192024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55180" y="2157984"/>
            <a:ext cx="731520" cy="73152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745" y="2333549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9992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46520" y="33101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human decision —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automatic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14816" y="2752344"/>
            <a:ext cx="292608" cy="164592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2" name="Shape 17"/>
          <p:cNvSpPr/>
          <p:nvPr/>
        </p:nvSpPr>
        <p:spPr>
          <a:xfrm>
            <a:off x="9189720" y="192024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35540" y="2157984"/>
            <a:ext cx="731520" cy="73152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105" y="2333549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9992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SQLite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326880" y="33101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for audit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4160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8233A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1655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41605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the current workflow does NOT automatically turn ASK into ALLOW. Every ASK transaction waits for an explicit human decision.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 Leash Is Built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5049" y="18562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279" y="2005462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243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9535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71850" y="16002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58259" y="18562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489" y="20054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3290" y="26243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81578" y="29535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5060" y="16002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81469" y="18562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699" y="2005462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6500" y="26243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04788" y="29535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intent parsing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18270" y="16002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04679" y="18562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909" y="2005462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9710" y="26243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27998" y="29535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719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35049" y="40279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279" y="4177162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7960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8368" y="51252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71850" y="37719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58259" y="40279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489" y="4177162"/>
            <a:ext cx="323332" cy="3233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63290" y="47960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81578" y="51252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approvals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95060" y="37719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181469" y="40279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699" y="4177162"/>
            <a:ext cx="323332" cy="3233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86500" y="47960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304788" y="51252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— TEST MODE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533638" y="389991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Shape 31"/>
          <p:cNvSpPr/>
          <p:nvPr/>
        </p:nvSpPr>
        <p:spPr>
          <a:xfrm>
            <a:off x="9018270" y="3771900"/>
            <a:ext cx="2594610" cy="1943100"/>
          </a:xfrm>
          <a:prstGeom prst="roundRect">
            <a:avLst>
              <a:gd name="adj" fmla="val 4706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10004679" y="4027932"/>
            <a:ext cx="621792" cy="621792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3909" y="4177162"/>
            <a:ext cx="323332" cy="3233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09710" y="4796028"/>
            <a:ext cx="2411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127998" y="5125212"/>
            <a:ext cx="2375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tests passing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 LEASH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267968"/>
          </a:xfrm>
          <a:prstGeom prst="roundRect">
            <a:avLst>
              <a:gd name="adj" fmla="val 7212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5856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972" y="2036308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Enforcement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probabilistic judgment calls — the same input always gives the same decision.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1267968"/>
          </a:xfrm>
          <a:prstGeom prst="roundRect">
            <a:avLst>
              <a:gd name="adj" fmla="val 7212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95856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252" y="2036308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642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21214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ALLOW / ASK / BLOCK comes with the exact rule that triggered it.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023616"/>
            <a:ext cx="5394960" cy="1267968"/>
          </a:xfrm>
          <a:prstGeom prst="roundRect">
            <a:avLst>
              <a:gd name="adj" fmla="val 7212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64992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2" y="3505444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3334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Behavior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5905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malformed financial values are rejected, not guessed at.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3023616"/>
            <a:ext cx="5394960" cy="1267968"/>
          </a:xfrm>
          <a:prstGeom prst="roundRect">
            <a:avLst>
              <a:gd name="adj" fmla="val 7212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364992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252" y="3505444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13334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35905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transactions always wait for a real person to decide.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492752"/>
            <a:ext cx="5394960" cy="1267968"/>
          </a:xfrm>
          <a:prstGeom prst="roundRect">
            <a:avLst>
              <a:gd name="adj" fmla="val 7212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483412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72" y="4974580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602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for Blocked Transactions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63040" y="5059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verdict means no Razorpay order is ever created.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4492752"/>
            <a:ext cx="5394960" cy="1267968"/>
          </a:xfrm>
          <a:prstGeom prst="roundRect">
            <a:avLst>
              <a:gd name="adj" fmla="val 7212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0" y="4834128"/>
            <a:ext cx="585216" cy="585216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252" y="4974580"/>
            <a:ext cx="304312" cy="304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602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32320" y="5059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approval is persisted in SQLite for review.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What’s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121C3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1945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policy engine complete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072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7614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demo scenarios working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7413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32841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working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4106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89534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workflow working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50799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4622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37 automated tests passing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355080" y="155448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121C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675120" y="1755648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24028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86600" y="21945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TEST MODE integration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807208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86600" y="27614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order flow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374136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86600" y="332841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audit UI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941064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86600" y="389534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4507992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86600" y="44622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integrations</a:t>
            </a:r>
            <a:endParaRPr lang="en-US" sz="1300" dirty="0"/>
          </a:p>
        </p:txBody>
      </p:sp>
      <p:sp>
        <p:nvSpPr>
          <p:cNvPr id="28" name="Text 1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823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Demo Flow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630680" cy="1234440"/>
          </a:xfrm>
          <a:prstGeom prst="roundRect">
            <a:avLst>
              <a:gd name="adj" fmla="val 7407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1508760"/>
            <a:ext cx="1484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97608" y="2052828"/>
            <a:ext cx="219456" cy="146304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2435352" y="1508760"/>
            <a:ext cx="1630680" cy="1234440"/>
          </a:xfrm>
          <a:prstGeom prst="roundRect">
            <a:avLst>
              <a:gd name="adj" fmla="val 7407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08504" y="1508760"/>
            <a:ext cx="1484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84320" y="2052828"/>
            <a:ext cx="219456" cy="146304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4322064" y="1508760"/>
            <a:ext cx="1630680" cy="1234440"/>
          </a:xfrm>
          <a:prstGeom prst="roundRect">
            <a:avLst>
              <a:gd name="adj" fmla="val 7407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95216" y="1508760"/>
            <a:ext cx="1484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71032" y="2052828"/>
            <a:ext cx="219456" cy="146304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6208776" y="1508760"/>
            <a:ext cx="1630680" cy="1234440"/>
          </a:xfrm>
          <a:prstGeom prst="roundRect">
            <a:avLst>
              <a:gd name="adj" fmla="val 7407"/>
            </a:avLst>
          </a:prstGeom>
          <a:solidFill>
            <a:srgbClr val="18233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18504" y="1673352"/>
            <a:ext cx="1411224" cy="256032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16" name="Text 13"/>
          <p:cNvSpPr/>
          <p:nvPr/>
        </p:nvSpPr>
        <p:spPr>
          <a:xfrm>
            <a:off x="6318504" y="1673352"/>
            <a:ext cx="1411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18504" y="1993392"/>
            <a:ext cx="1411224" cy="256032"/>
          </a:xfrm>
          <a:prstGeom prst="roundRect">
            <a:avLst>
              <a:gd name="adj" fmla="val 50000"/>
            </a:avLst>
          </a:prstGeom>
          <a:solidFill>
            <a:srgbClr val="4A3607"/>
          </a:solidFill>
          <a:ln/>
        </p:spPr>
      </p:sp>
      <p:sp>
        <p:nvSpPr>
          <p:cNvPr id="18" name="Text 15"/>
          <p:cNvSpPr/>
          <p:nvPr/>
        </p:nvSpPr>
        <p:spPr>
          <a:xfrm>
            <a:off x="6318504" y="1993392"/>
            <a:ext cx="1411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18504" y="2313432"/>
            <a:ext cx="1411224" cy="256032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/>
        </p:spPr>
      </p:sp>
      <p:sp>
        <p:nvSpPr>
          <p:cNvPr id="20" name="Text 17"/>
          <p:cNvSpPr/>
          <p:nvPr/>
        </p:nvSpPr>
        <p:spPr>
          <a:xfrm>
            <a:off x="6318504" y="2313432"/>
            <a:ext cx="1411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57744" y="2052828"/>
            <a:ext cx="219456" cy="146304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2" name="Shape 19"/>
          <p:cNvSpPr/>
          <p:nvPr/>
        </p:nvSpPr>
        <p:spPr>
          <a:xfrm>
            <a:off x="8095488" y="1508760"/>
            <a:ext cx="1630680" cy="1234440"/>
          </a:xfrm>
          <a:prstGeom prst="roundRect">
            <a:avLst>
              <a:gd name="adj" fmla="val 7407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68640" y="1508760"/>
            <a:ext cx="1484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744456" y="2052828"/>
            <a:ext cx="219456" cy="146304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5" name="Shape 22"/>
          <p:cNvSpPr/>
          <p:nvPr/>
        </p:nvSpPr>
        <p:spPr>
          <a:xfrm>
            <a:off x="9982200" y="1508760"/>
            <a:ext cx="1630680" cy="1234440"/>
          </a:xfrm>
          <a:prstGeom prst="roundRect">
            <a:avLst>
              <a:gd name="adj" fmla="val 7407"/>
            </a:avLst>
          </a:prstGeom>
          <a:solidFill>
            <a:srgbClr val="121C30"/>
          </a:solidFill>
          <a:ln w="12700">
            <a:solidFill>
              <a:srgbClr val="25325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5352" y="1508760"/>
            <a:ext cx="1484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Only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Authorized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3200400"/>
            <a:ext cx="11064240" cy="1417320"/>
          </a:xfrm>
          <a:prstGeom prst="roundRect">
            <a:avLst>
              <a:gd name="adj" fmla="val 9032"/>
            </a:avLst>
          </a:prstGeom>
          <a:solidFill>
            <a:srgbClr val="1823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34015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can act fast.”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“Agent Leash makes sure it acts within the user’s authority.”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0" y="5029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  ·  Security Layer for AI-Powered Transactions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LEASH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2026-08-30T06:08:29Z</dcterms:created>
  <dcterms:modified xsi:type="dcterms:W3CDTF">2026-08-30T06:08:29Z</dcterms:modified>
</cp:coreProperties>
</file>